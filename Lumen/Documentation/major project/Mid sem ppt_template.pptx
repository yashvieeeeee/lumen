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9144000"/>
  <p:notesSz cx="6858000" cy="9144000"/>
  <p:embeddedFontLst>
    <p:embeddedFont>
      <p:font typeface="Libre Franklin"/>
      <p:regular r:id="rId28"/>
      <p:bold r:id="rId29"/>
      <p:italic r:id="rId30"/>
      <p:boldItalic r:id="rId31"/>
    </p:embeddedFont>
    <p:embeddedFont>
      <p:font typeface="Libre Baskerville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6" roundtripDataSignature="AMtx7mgI/KqgFk7la8AXx08YAmd705PR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F9A06D9-9683-4C55-8417-0D1C6C4BB596}">
  <a:tblStyle styleId="{8F9A06D9-9683-4C55-8417-0D1C6C4BB59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LibreFranklin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ibreFranklin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ibreFranklin-boldItalic.fntdata"/><Relationship Id="rId30" Type="http://schemas.openxmlformats.org/officeDocument/2006/relationships/font" Target="fonts/LibreFranklin-italic.fntdata"/><Relationship Id="rId11" Type="http://schemas.openxmlformats.org/officeDocument/2006/relationships/slide" Target="slides/slide5.xml"/><Relationship Id="rId33" Type="http://schemas.openxmlformats.org/officeDocument/2006/relationships/font" Target="fonts/LibreBaskerville-bold.fntdata"/><Relationship Id="rId10" Type="http://schemas.openxmlformats.org/officeDocument/2006/relationships/slide" Target="slides/slide4.xml"/><Relationship Id="rId32" Type="http://schemas.openxmlformats.org/officeDocument/2006/relationships/font" Target="fonts/LibreBaskerville-regular.fntdata"/><Relationship Id="rId13" Type="http://schemas.openxmlformats.org/officeDocument/2006/relationships/slide" Target="slides/slide7.xml"/><Relationship Id="rId35" Type="http://schemas.openxmlformats.org/officeDocument/2006/relationships/font" Target="fonts/LibreBaskerville-boldItalic.fntdata"/><Relationship Id="rId12" Type="http://schemas.openxmlformats.org/officeDocument/2006/relationships/slide" Target="slides/slide6.xml"/><Relationship Id="rId34" Type="http://schemas.openxmlformats.org/officeDocument/2006/relationships/font" Target="fonts/LibreBaskerville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customschemas.google.com/relationships/presentationmetadata" Target="meta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40a0c8b7c93_4_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40a0c8b7c93_4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40a0c8b7c93_4_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40a0c8b7c93_1_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40a0c8b7c93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40a0c8b7c93_1_4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40a0c8b7c93_1_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40a0c8b7c93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40a0c8b7c93_1_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40a0c8b7c93_1_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40a0c8b7c93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40a0c8b7c93_1_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40a0c8b7c93_1_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40a0c8b7c93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40a0c8b7c93_1_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40a0c8b7c93_3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40a0c8b7c93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40a0c8b7c93_3_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40a0c8b7c93_1_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40a0c8b7c93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40a0c8b7c93_1_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40a0c8b7c93_3_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40a0c8b7c93_3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40a0c8b7c93_3_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blipFill rotWithShape="1">
          <a:blip r:embed="rId2">
            <a:alphaModFix/>
          </a:blip>
          <a:tile algn="tl" flip="none" tx="0" sx="55000" ty="0" sy="55000"/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9" name="Google Shape;19;p15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fmla="val 4929" name="adj"/>
            </a:avLst>
          </a:prstGeom>
          <a:blipFill rotWithShape="1">
            <a:blip r:embed="rId2">
              <a:alphaModFix/>
            </a:blip>
            <a:tile algn="tl" flip="none" tx="0" sx="55000" ty="0" sy="55000"/>
          </a:blip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0" name="Google Shape;20;p15"/>
          <p:cNvSpPr txBox="1"/>
          <p:nvPr>
            <p:ph idx="1" type="subTitle"/>
          </p:nvPr>
        </p:nvSpPr>
        <p:spPr>
          <a:xfrm>
            <a:off x="1295400" y="320040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580"/>
              </a:spcBef>
              <a:spcAft>
                <a:spcPts val="0"/>
              </a:spcAft>
              <a:buSzPts val="2210"/>
              <a:buNone/>
              <a:defRPr sz="2600">
                <a:solidFill>
                  <a:schemeClr val="dk2"/>
                </a:solidFill>
              </a:defRPr>
            </a:lvl1pPr>
            <a:lvl2pPr lvl="1" algn="ctr">
              <a:spcBef>
                <a:spcPts val="37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70"/>
              </a:spcBef>
              <a:spcAft>
                <a:spcPts val="0"/>
              </a:spcAft>
              <a:buSzPts val="1530"/>
              <a:buNone/>
              <a:defRPr/>
            </a:lvl3pPr>
            <a:lvl4pPr lvl="3" algn="ctr">
              <a:spcBef>
                <a:spcPts val="370"/>
              </a:spcBef>
              <a:spcAft>
                <a:spcPts val="0"/>
              </a:spcAft>
              <a:buSzPts val="1440"/>
              <a:buNone/>
              <a:defRPr/>
            </a:lvl4pPr>
            <a:lvl5pPr lvl="4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15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5" name="Google Shape;25;p15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rgbClr val="B1C0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6" name="Google Shape;26;p15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7" name="Google Shape;27;p15"/>
          <p:cNvSpPr txBox="1"/>
          <p:nvPr>
            <p:ph type="ctrTitle"/>
          </p:nvPr>
        </p:nvSpPr>
        <p:spPr>
          <a:xfrm>
            <a:off x="457200" y="1505930"/>
            <a:ext cx="8229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Libre Franklin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16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blipFill rotWithShape="1">
          <a:blip r:embed="rId2">
            <a:alphaModFix/>
          </a:blip>
          <a:tile algn="tl" flip="none" tx="0" sx="55000" ty="0" sy="55000"/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6" name="Google Shape;36;p17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fmla="val 4929" name="adj"/>
            </a:avLst>
          </a:prstGeom>
          <a:blipFill rotWithShape="1">
            <a:blip r:embed="rId2">
              <a:alphaModFix/>
            </a:blip>
            <a:tile algn="tl" flip="none" tx="0" sx="55000" ty="0" sy="55000"/>
          </a:blip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7" name="Google Shape;37;p17"/>
          <p:cNvSpPr txBox="1"/>
          <p:nvPr>
            <p:ph type="title"/>
          </p:nvPr>
        </p:nvSpPr>
        <p:spPr>
          <a:xfrm>
            <a:off x="722313" y="9525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722313" y="2547938"/>
            <a:ext cx="7772400" cy="1338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204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70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7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0"/>
              </a:spcBef>
              <a:spcAft>
                <a:spcPts val="0"/>
              </a:spcAft>
              <a:buSzPts val="1400"/>
              <a:buFont typeface="Libre Baskerville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1" type="ftr"/>
          </p:nvPr>
        </p:nvSpPr>
        <p:spPr>
          <a:xfrm>
            <a:off x="800100" y="6172200"/>
            <a:ext cx="400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7"/>
          <p:cNvSpPr/>
          <p:nvPr/>
        </p:nvSpPr>
        <p:spPr>
          <a:xfrm flipH="1" rot="10800000">
            <a:off x="69412" y="2376830"/>
            <a:ext cx="9013515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2" name="Google Shape;42;p1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rgbClr val="B1C0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3" name="Google Shape;43;p17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4" name="Google Shape;44;p17"/>
          <p:cNvSpPr/>
          <p:nvPr>
            <p:ph idx="12" type="sldNum"/>
          </p:nvPr>
        </p:nvSpPr>
        <p:spPr>
          <a:xfrm>
            <a:off x="146304" y="6208776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18"/>
          <p:cNvSpPr txBox="1"/>
          <p:nvPr>
            <p:ph idx="1" type="body"/>
          </p:nvPr>
        </p:nvSpPr>
        <p:spPr>
          <a:xfrm>
            <a:off x="91440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2" type="body"/>
          </p:nvPr>
        </p:nvSpPr>
        <p:spPr>
          <a:xfrm>
            <a:off x="493395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9"/>
          <p:cNvSpPr txBox="1"/>
          <p:nvPr>
            <p:ph type="title"/>
          </p:nvPr>
        </p:nvSpPr>
        <p:spPr>
          <a:xfrm>
            <a:off x="914400" y="273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9"/>
          <p:cNvSpPr txBox="1"/>
          <p:nvPr>
            <p:ph idx="1" type="body"/>
          </p:nvPr>
        </p:nvSpPr>
        <p:spPr>
          <a:xfrm>
            <a:off x="9144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2040"/>
              <a:buNone/>
              <a:defRPr b="1" sz="240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spcBef>
                <a:spcPts val="37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7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spcBef>
                <a:spcPts val="37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370"/>
              </a:spcBef>
              <a:spcAft>
                <a:spcPts val="0"/>
              </a:spcAft>
              <a:buSzPts val="1600"/>
              <a:buFont typeface="Libre Baskerville"/>
              <a:buNone/>
              <a:defRPr b="1" sz="16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2" type="body"/>
          </p:nvPr>
        </p:nvSpPr>
        <p:spPr>
          <a:xfrm>
            <a:off x="49530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2040"/>
              <a:buNone/>
              <a:defRPr b="1" sz="240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spcBef>
                <a:spcPts val="37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7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spcBef>
                <a:spcPts val="37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370"/>
              </a:spcBef>
              <a:spcAft>
                <a:spcPts val="0"/>
              </a:spcAft>
              <a:buSzPts val="1600"/>
              <a:buFont typeface="Libre Baskerville"/>
              <a:buNone/>
              <a:defRPr b="1" sz="16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9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19"/>
          <p:cNvSpPr txBox="1"/>
          <p:nvPr>
            <p:ph idx="3" type="body"/>
          </p:nvPr>
        </p:nvSpPr>
        <p:spPr>
          <a:xfrm>
            <a:off x="914400" y="2247900"/>
            <a:ext cx="37338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4" type="body"/>
          </p:nvPr>
        </p:nvSpPr>
        <p:spPr>
          <a:xfrm>
            <a:off x="4953000" y="2247900"/>
            <a:ext cx="37338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0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1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1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1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2" name="Google Shape;72;p22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fmla="val 4929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3" name="Google Shape;73;p22"/>
          <p:cNvSpPr txBox="1"/>
          <p:nvPr>
            <p:ph type="title"/>
          </p:nvPr>
        </p:nvSpPr>
        <p:spPr>
          <a:xfrm>
            <a:off x="914400" y="273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" type="body"/>
          </p:nvPr>
        </p:nvSpPr>
        <p:spPr>
          <a:xfrm>
            <a:off x="914400" y="1600200"/>
            <a:ext cx="1905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1530"/>
              <a:buNone/>
              <a:defRPr sz="1800"/>
            </a:lvl1pPr>
            <a:lvl2pPr indent="-228600" lvl="1" marL="914400" algn="l">
              <a:spcBef>
                <a:spcPts val="37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37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spcBef>
                <a:spcPts val="37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370"/>
              </a:spcBef>
              <a:spcAft>
                <a:spcPts val="0"/>
              </a:spcAft>
              <a:buSzPts val="900"/>
              <a:buFont typeface="Libre Baskerville"/>
              <a:buNone/>
              <a:defRPr sz="9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22"/>
          <p:cNvSpPr txBox="1"/>
          <p:nvPr>
            <p:ph idx="2" type="body"/>
          </p:nvPr>
        </p:nvSpPr>
        <p:spPr>
          <a:xfrm>
            <a:off x="2971800" y="1600200"/>
            <a:ext cx="5715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3"/>
          <p:cNvSpPr txBox="1"/>
          <p:nvPr>
            <p:ph type="title"/>
          </p:nvPr>
        </p:nvSpPr>
        <p:spPr>
          <a:xfrm>
            <a:off x="914400" y="4900550"/>
            <a:ext cx="7315200" cy="522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Franklin"/>
              <a:buNone/>
              <a:defRPr b="0"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" type="body"/>
          </p:nvPr>
        </p:nvSpPr>
        <p:spPr>
          <a:xfrm>
            <a:off x="914400" y="5445825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1360"/>
              <a:buFont typeface="Libre Baskerville"/>
              <a:buNone/>
              <a:defRPr sz="1600"/>
            </a:lvl1pPr>
            <a:lvl2pPr indent="-293370" lvl="1" marL="914400" algn="l">
              <a:spcBef>
                <a:spcPts val="370"/>
              </a:spcBef>
              <a:spcAft>
                <a:spcPts val="0"/>
              </a:spcAft>
              <a:buSzPts val="1020"/>
              <a:buChar char="⚫"/>
              <a:defRPr sz="1200"/>
            </a:lvl2pPr>
            <a:lvl3pPr indent="-282575" lvl="2" marL="1371600" algn="l">
              <a:spcBef>
                <a:spcPts val="370"/>
              </a:spcBef>
              <a:spcAft>
                <a:spcPts val="0"/>
              </a:spcAft>
              <a:buSzPts val="850"/>
              <a:buChar char="⚫"/>
              <a:defRPr sz="1000"/>
            </a:lvl3pPr>
            <a:lvl4pPr indent="-274320" lvl="3" marL="1828800" algn="l">
              <a:spcBef>
                <a:spcPts val="370"/>
              </a:spcBef>
              <a:spcAft>
                <a:spcPts val="0"/>
              </a:spcAft>
              <a:buSzPts val="720"/>
              <a:buChar char="⚫"/>
              <a:defRPr sz="900"/>
            </a:lvl4pPr>
            <a:lvl5pPr indent="-285750" lvl="4" marL="2286000" algn="l">
              <a:spcBef>
                <a:spcPts val="370"/>
              </a:spcBef>
              <a:spcAft>
                <a:spcPts val="0"/>
              </a:spcAft>
              <a:buSzPts val="900"/>
              <a:buFont typeface="Libre Baskerville"/>
              <a:buChar char="o"/>
              <a:defRPr sz="9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1" type="ftr"/>
          </p:nvPr>
        </p:nvSpPr>
        <p:spPr>
          <a:xfrm>
            <a:off x="914400" y="617220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3"/>
          <p:cNvSpPr/>
          <p:nvPr>
            <p:ph idx="12" type="sldNum"/>
          </p:nvPr>
        </p:nvSpPr>
        <p:spPr>
          <a:xfrm>
            <a:off x="146304" y="6208776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23"/>
          <p:cNvSpPr/>
          <p:nvPr/>
        </p:nvSpPr>
        <p:spPr>
          <a:xfrm flipH="1" rot="10800000">
            <a:off x="68307" y="4683555"/>
            <a:ext cx="900684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6" name="Google Shape;86;p23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rgbClr val="B1C0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7" name="Google Shape;87;p23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8" name="Google Shape;88;p23"/>
          <p:cNvSpPr/>
          <p:nvPr>
            <p:ph idx="2" type="pic"/>
          </p:nvPr>
        </p:nvSpPr>
        <p:spPr>
          <a:xfrm>
            <a:off x="68308" y="66675"/>
            <a:ext cx="9001873" cy="4581525"/>
          </a:xfrm>
          <a:prstGeom prst="round2SameRect">
            <a:avLst>
              <a:gd fmla="val 7101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1" type="body"/>
          </p:nvPr>
        </p:nvSpPr>
        <p:spPr>
          <a:xfrm rot="5400000">
            <a:off x="2514600" y="-152400"/>
            <a:ext cx="45720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4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4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 rot="5400000">
            <a:off x="4709478" y="2194564"/>
            <a:ext cx="5851525" cy="20116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" type="body"/>
          </p:nvPr>
        </p:nvSpPr>
        <p:spPr>
          <a:xfrm rot="5400000">
            <a:off x="769938" y="419103"/>
            <a:ext cx="5851525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5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1" name="Google Shape;11;p14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fmla="val 4929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2" name="Google Shape;12;p1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4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935" lvl="0" marL="457200" marR="0" rtl="0" algn="l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58140" lvl="1" marL="914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36550" lvl="2" marL="1371600" marR="0" rtl="0" algn="l">
              <a:spcBef>
                <a:spcPts val="370"/>
              </a:spcBef>
              <a:spcAft>
                <a:spcPts val="0"/>
              </a:spcAft>
              <a:buClr>
                <a:srgbClr val="B1C0DA"/>
              </a:buClr>
              <a:buSzPts val="17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30200" lvl="3" marL="18288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55600" lvl="4" marL="22860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Libre Baskerville"/>
              <a:buChar char="o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42900" lvl="5" marL="27432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42900" lvl="6" marL="3200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42900" lvl="7" marL="3657600" marR="0" rtl="0" algn="l">
              <a:spcBef>
                <a:spcPts val="370"/>
              </a:spcBef>
              <a:spcAft>
                <a:spcPts val="0"/>
              </a:spcAft>
              <a:buClr>
                <a:srgbClr val="B1C0DA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42900" lvl="8" marL="4114800" marR="0" rtl="0" algn="l">
              <a:spcBef>
                <a:spcPts val="370"/>
              </a:spcBef>
              <a:spcAft>
                <a:spcPts val="0"/>
              </a:spcAft>
              <a:buClr>
                <a:srgbClr val="DCB1B0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6" name="Google Shape;16;p14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/>
          <p:cNvSpPr txBox="1"/>
          <p:nvPr>
            <p:ph idx="1" type="subTitle"/>
          </p:nvPr>
        </p:nvSpPr>
        <p:spPr>
          <a:xfrm>
            <a:off x="838200" y="3200400"/>
            <a:ext cx="7772400" cy="31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8"/>
              <a:buFont typeface="Arial"/>
              <a:buNone/>
            </a:pPr>
            <a:r>
              <a:rPr lang="en-US"/>
              <a:t>Yashvie Mahey	51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8"/>
              <a:buFont typeface="Arial"/>
              <a:buNone/>
            </a:pPr>
            <a:r>
              <a:rPr lang="en-US"/>
              <a:t>Shravani Lad		52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8"/>
              <a:buFont typeface="Arial"/>
              <a:buNone/>
            </a:pPr>
            <a:r>
              <a:rPr lang="en-US"/>
              <a:t>Harshit Behl		53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42308"/>
              <a:buNone/>
            </a:pPr>
            <a:r>
              <a:rPr lang="en-US"/>
              <a:t>Rahil Kirtikar		54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8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en-US"/>
              <a:t>Date of presentation: 21/09/26</a:t>
            </a:r>
            <a:endParaRPr/>
          </a:p>
          <a:p>
            <a:pPr indent="0" lvl="0" marL="0" rtl="0" algn="ctr"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en-US"/>
              <a:t>Under the guidance of: Dr. Prachi Raut</a:t>
            </a:r>
            <a:endParaRPr i="1"/>
          </a:p>
          <a:p>
            <a:pPr indent="0" lvl="0" marL="0" rtl="0" algn="ctr"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en-US"/>
              <a:t> </a:t>
            </a:r>
            <a:endParaRPr/>
          </a:p>
          <a:p>
            <a:pPr indent="0" lvl="0" marL="0" rtl="0" algn="ctr"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en-US"/>
              <a:t>St. Francis Institute of Technology</a:t>
            </a:r>
            <a:endParaRPr/>
          </a:p>
          <a:p>
            <a:pPr indent="0" lvl="0" marL="0" rtl="0" algn="ctr"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i="1" lang="en-US"/>
              <a:t>Department of Information Technology</a:t>
            </a:r>
            <a:endParaRPr/>
          </a:p>
        </p:txBody>
      </p:sp>
      <p:sp>
        <p:nvSpPr>
          <p:cNvPr id="107" name="Google Shape;107;p1"/>
          <p:cNvSpPr txBox="1"/>
          <p:nvPr>
            <p:ph type="ctrTitle"/>
          </p:nvPr>
        </p:nvSpPr>
        <p:spPr>
          <a:xfrm>
            <a:off x="762000" y="1600200"/>
            <a:ext cx="7772400" cy="1165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2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Lumen: A Safety-Guarded Conversational AI Companion with Real-Time Crisis Detection</a:t>
            </a:r>
            <a:endParaRPr/>
          </a:p>
        </p:txBody>
      </p:sp>
      <p:pic>
        <p:nvPicPr>
          <p:cNvPr id="108" name="Google Shape;10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0" y="6019800"/>
            <a:ext cx="522288" cy="50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/>
          <p:cNvSpPr txBox="1"/>
          <p:nvPr>
            <p:ph type="title"/>
          </p:nvPr>
        </p:nvSpPr>
        <p:spPr>
          <a:xfrm>
            <a:off x="914400" y="274638"/>
            <a:ext cx="77724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/>
              <a:t>Content</a:t>
            </a:r>
            <a:endParaRPr/>
          </a:p>
        </p:txBody>
      </p:sp>
      <p:sp>
        <p:nvSpPr>
          <p:cNvPr id="115" name="Google Shape;115;p2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SFIT- IT department                     LUMEN                               </a:t>
            </a:r>
            <a:endParaRPr/>
          </a:p>
        </p:txBody>
      </p:sp>
      <p:sp>
        <p:nvSpPr>
          <p:cNvPr id="116" name="Google Shape;116;p2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2"/>
          <p:cNvSpPr txBox="1"/>
          <p:nvPr>
            <p:ph idx="1" type="body"/>
          </p:nvPr>
        </p:nvSpPr>
        <p:spPr>
          <a:xfrm>
            <a:off x="914400" y="990600"/>
            <a:ext cx="7772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US"/>
              <a:t>Introduction 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US"/>
              <a:t>Problem definition &amp; Proposed solution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US"/>
              <a:t>Scope of project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US"/>
              <a:t>Review of literature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US"/>
              <a:t>System description</a:t>
            </a:r>
            <a:endParaRPr/>
          </a:p>
          <a:p>
            <a:pPr indent="-228600" lvl="1" marL="548640" rtl="0" algn="l">
              <a:spcBef>
                <a:spcPts val="370"/>
              </a:spcBef>
              <a:spcAft>
                <a:spcPts val="0"/>
              </a:spcAft>
              <a:buSzPts val="2040"/>
              <a:buChar char="⚫"/>
            </a:pPr>
            <a:r>
              <a:rPr i="1" lang="en-US"/>
              <a:t>Architecture or block diagram (broader topic/algorithm)</a:t>
            </a:r>
            <a:endParaRPr/>
          </a:p>
          <a:p>
            <a:pPr indent="-228600" lvl="1" marL="548640" rtl="0" algn="l">
              <a:spcBef>
                <a:spcPts val="370"/>
              </a:spcBef>
              <a:spcAft>
                <a:spcPts val="0"/>
              </a:spcAft>
              <a:buSzPts val="2040"/>
              <a:buChar char="⚫"/>
            </a:pPr>
            <a:r>
              <a:rPr i="1" lang="en-US"/>
              <a:t>Explanation of individual blocks (if exists) or algorithm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US"/>
              <a:t>Hardware &amp; software requirements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US"/>
              <a:t>System Design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US"/>
              <a:t>Timeline chart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en-US"/>
              <a:t>User Interface Design (GUI snapshots)</a:t>
            </a:r>
            <a:endParaRPr/>
          </a:p>
        </p:txBody>
      </p:sp>
      <p:pic>
        <p:nvPicPr>
          <p:cNvPr id="118" name="Google Shape;1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5800" y="6172200"/>
            <a:ext cx="533400" cy="5242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/>
              <a:t>Introduction </a:t>
            </a:r>
            <a:endParaRPr/>
          </a:p>
        </p:txBody>
      </p:sp>
      <p:sp>
        <p:nvSpPr>
          <p:cNvPr id="125" name="Google Shape;125;p3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SFIT- IT department                     LUMEN                                 </a:t>
            </a:r>
            <a:endParaRPr/>
          </a:p>
        </p:txBody>
      </p:sp>
      <p:sp>
        <p:nvSpPr>
          <p:cNvPr id="126" name="Google Shape;126;p3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3"/>
          <p:cNvSpPr txBox="1"/>
          <p:nvPr>
            <p:ph idx="1" type="body"/>
          </p:nvPr>
        </p:nvSpPr>
        <p:spPr>
          <a:xfrm>
            <a:off x="603500" y="1320124"/>
            <a:ext cx="808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Mental health challenges are becoming increasingly common worldwide, while social stigma, lack of awareness, high treatment costs and limited accessibility continue to prevent many individuals from seeking timely professional support.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The growing use of AI-powered conversational systems offers an opportunity to provide accessible and continuous emotional support; however, general-purpose AI chatbots may miss crisis-related signals, overlook gradual negative mood trends and generate diagnosis-like or potentially inappropriate responses.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Existing conversational systems often lack long-term contextual understanding, explainable risk detection and structured escalation mechanisms, making it difficult to safely identify users who may require additional or professional support.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Lumen: a Safety-Guarded Conversational AI Architecture that integrates real-time risk classification, retrieval-augmented contextual memory, anti-diagnosis guardrails, longitudinal mood tracking, explainable escalation and human-reviewed continuous improvement to enable supportive, context-aware and non-diagnostic AI interactions.</a:t>
            </a:r>
            <a:endParaRPr sz="1600"/>
          </a:p>
        </p:txBody>
      </p:sp>
      <p:pic>
        <p:nvPicPr>
          <p:cNvPr id="128" name="Google Shape;12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5800" y="6172200"/>
            <a:ext cx="533400" cy="5242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 txBox="1"/>
          <p:nvPr>
            <p:ph type="title"/>
          </p:nvPr>
        </p:nvSpPr>
        <p:spPr>
          <a:xfrm>
            <a:off x="146300" y="317500"/>
            <a:ext cx="86868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en-US"/>
              <a:t>Problem definition &amp; Proposed solution </a:t>
            </a:r>
            <a:endParaRPr/>
          </a:p>
        </p:txBody>
      </p:sp>
      <p:sp>
        <p:nvSpPr>
          <p:cNvPr id="135" name="Google Shape;135;p4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SFIT- IT department                     LUMEN                                 </a:t>
            </a:r>
            <a:endParaRPr/>
          </a:p>
        </p:txBody>
      </p:sp>
      <p:sp>
        <p:nvSpPr>
          <p:cNvPr id="136" name="Google Shape;136;p4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4"/>
          <p:cNvSpPr txBox="1"/>
          <p:nvPr>
            <p:ph idx="1" type="body"/>
          </p:nvPr>
        </p:nvSpPr>
        <p:spPr>
          <a:xfrm>
            <a:off x="242050" y="1000900"/>
            <a:ext cx="8686800" cy="50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Problem Definition 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Mental health support remains difficult to access due to social stigma, lack of awareness, high treatment costs, and limited accessibility. As a result, many individuals may rely on general-purpose AI chatbots that are not specifically designed for safe mental-health support.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Existing conversational AI systems may miss immediate crisis signals and gradual negative mood trends, generate diagnosis-like responses, and lack long-term contextual memory, explainable risk detection, and reliable escalation mechanisms for users who may require professional support.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Proposed Solution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Lumen is a Safety-Guarded Conversational AI Architecture designed to provide supportive, context-aware, and strictly non-diagnostic mental-health interactions.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Lumen combines: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596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Real-time crisis-risk classification to identify potential high-risk messages.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596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Emotion and stress detection to understand the user’s current emotional state.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596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Retrieval-Augmented Context Memory (RAG) to retrieve relevant information from previous conversations and provide contextual responses.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596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Longitudinal mood tracking to identify gradual changes in emotional state over time.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596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Anti-diagnosis guardrails to prevent the system from producing diagnosis-like or clinically inappropriate responses.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596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Structured escalation to verified professional-support resources such as Tele-MANAS when elevated risk is detected.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8" name="Google Shape;13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5800" y="6172200"/>
            <a:ext cx="533400" cy="5242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/>
          <p:nvPr>
            <p:ph type="title"/>
          </p:nvPr>
        </p:nvSpPr>
        <p:spPr>
          <a:xfrm>
            <a:off x="914400" y="317347"/>
            <a:ext cx="7772400" cy="84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/>
              <a:t>Scope of project</a:t>
            </a:r>
            <a:endParaRPr/>
          </a:p>
        </p:txBody>
      </p:sp>
      <p:sp>
        <p:nvSpPr>
          <p:cNvPr id="145" name="Google Shape;145;p5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SFIT- IT department                     LUMEN                                 </a:t>
            </a:r>
            <a:endParaRPr/>
          </a:p>
        </p:txBody>
      </p:sp>
      <p:sp>
        <p:nvSpPr>
          <p:cNvPr id="146" name="Google Shape;146;p5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p5"/>
          <p:cNvSpPr txBox="1"/>
          <p:nvPr>
            <p:ph idx="1" type="body"/>
          </p:nvPr>
        </p:nvSpPr>
        <p:spPr>
          <a:xfrm>
            <a:off x="571500" y="1200900"/>
            <a:ext cx="8001000" cy="44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To develop </a:t>
            </a:r>
            <a:r>
              <a:rPr b="1"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Lumen</a:t>
            </a: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a safety-guarded conversational AI system for </a:t>
            </a:r>
            <a:r>
              <a:rPr b="1"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supportive and preventive mental-health interactions</a:t>
            </a: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by integrating </a:t>
            </a:r>
            <a:r>
              <a:rPr b="1"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real-time crisis-risk classification, emotion and stress detection, Retrieval-Augmented Context Memory, and longitudinal mood tracking</a:t>
            </a: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across user conversations.</a:t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To implement a </a:t>
            </a:r>
            <a:r>
              <a:rPr b="1"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rule-based safety layer, explainable risk aggregation, anti-diagnosis guardrails, and structured escalation to verified resources such as Tele-MANAS</a:t>
            </a: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 The system will also maintain </a:t>
            </a:r>
            <a:r>
              <a:rPr b="1"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secure audit logs</a:t>
            </a: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and support a </a:t>
            </a:r>
            <a:r>
              <a:rPr b="1"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human-reviewed continuous improvement loop</a:t>
            </a: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for refining risk lexicons, detection thresholds, and safety guardrails.</a:t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222222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system is designed to provide </a:t>
            </a:r>
            <a:r>
              <a:rPr b="1"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supportive, context-aware, and strictly non-diagnostic assistance</a:t>
            </a: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 It is </a:t>
            </a:r>
            <a:r>
              <a:rPr b="1"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not intended to diagnose mental-health conditions or replace psychiatrists, psychologists, therapists, emergency services, or other professional mental-health care</a:t>
            </a: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8" name="Google Shape;14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5800" y="6172200"/>
            <a:ext cx="533400" cy="5242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 txBox="1"/>
          <p:nvPr>
            <p:ph type="title"/>
          </p:nvPr>
        </p:nvSpPr>
        <p:spPr>
          <a:xfrm>
            <a:off x="499550" y="-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/>
              <a:t>Review of literature</a:t>
            </a:r>
            <a:endParaRPr/>
          </a:p>
        </p:txBody>
      </p:sp>
      <p:sp>
        <p:nvSpPr>
          <p:cNvPr id="155" name="Google Shape;155;p6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SFIT- IT department                     Project Title                                  </a:t>
            </a:r>
            <a:endParaRPr/>
          </a:p>
        </p:txBody>
      </p:sp>
      <p:sp>
        <p:nvSpPr>
          <p:cNvPr id="156" name="Google Shape;156;p6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7" name="Google Shape;15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5800" y="6172200"/>
            <a:ext cx="533400" cy="52428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8" name="Google Shape;158;p6"/>
          <p:cNvGraphicFramePr/>
          <p:nvPr/>
        </p:nvGraphicFramePr>
        <p:xfrm>
          <a:off x="499550" y="111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{8F9A06D9-9683-4C55-8417-0D1C6C4BB596}</a:tableStyleId>
              </a:tblPr>
              <a:tblGrid>
                <a:gridCol w="1649900"/>
                <a:gridCol w="1751350"/>
                <a:gridCol w="1749375"/>
                <a:gridCol w="2994275"/>
              </a:tblGrid>
              <a:tr h="7568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Research Paper</a:t>
                      </a:r>
                      <a:endParaRPr b="1"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Main Focus</a:t>
                      </a:r>
                      <a:endParaRPr b="1"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Research Gap / Limitation</a:t>
                      </a:r>
                      <a:endParaRPr b="1"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How Lumen Addresses the Gap</a:t>
                      </a:r>
                      <a:endParaRPr b="1"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13451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Suicide- and Crisis-Risk Detection Using Large Language Models in Mental-Health Chatbots</a:t>
                      </a:r>
                      <a:endParaRPr b="1" sz="120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Uses LLMs to detect suicide and crisis risk in mental-health conversations.</a:t>
                      </a:r>
                      <a:endParaRPr b="1" sz="120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real-world validation, generalization challenges, and difficulty handling multi-turn and changing risk.</a:t>
                      </a:r>
                      <a:endParaRPr b="1" sz="120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Uses a dedicated crisis-risk classifier, rule-based safety detection, risk aggregation, and longitudinal monitoring instead of relying only on an LLM.</a:t>
                      </a:r>
                      <a:endParaRPr b="1" sz="120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809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Machine Learning and the Prediction of Suicide in Psychiatric Populations: A Systematic Review</a:t>
                      </a:r>
                      <a:endParaRPr b="1" sz="120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Reviews ML approaches for predicting suicide risk in psychiatric populations.</a:t>
                      </a:r>
                      <a:endParaRPr b="1" sz="120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Many studies lack external validation and longitudinal evaluation, limiting real-world applicability.</a:t>
                      </a:r>
                      <a:endParaRPr b="1" sz="120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Combines real-time risk detection with longitudinal mood tracking and evaluates the complete safety pipeline rather than only a prediction model.</a:t>
                      </a:r>
                      <a:endParaRPr b="1" sz="120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40a0c8b7c93_4_35"/>
          <p:cNvSpPr txBox="1"/>
          <p:nvPr>
            <p:ph type="title"/>
          </p:nvPr>
        </p:nvSpPr>
        <p:spPr>
          <a:xfrm>
            <a:off x="304800" y="-8636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/>
              <a:t>Review of literature</a:t>
            </a:r>
            <a:endParaRPr/>
          </a:p>
        </p:txBody>
      </p:sp>
      <p:sp>
        <p:nvSpPr>
          <p:cNvPr id="165" name="Google Shape;165;g40a0c8b7c93_4_35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6" name="Google Shape;166;g40a0c8b7c93_4_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5800" y="6172200"/>
            <a:ext cx="533400" cy="52428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7" name="Google Shape;167;g40a0c8b7c93_4_35"/>
          <p:cNvGraphicFramePr/>
          <p:nvPr/>
        </p:nvGraphicFramePr>
        <p:xfrm>
          <a:off x="304800" y="105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{8F9A06D9-9683-4C55-8417-0D1C6C4BB596}</a:tableStyleId>
              </a:tblPr>
              <a:tblGrid>
                <a:gridCol w="1709300"/>
                <a:gridCol w="1572900"/>
                <a:gridCol w="1927825"/>
                <a:gridCol w="3324375"/>
              </a:tblGrid>
              <a:tr h="5460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Research Paper</a:t>
                      </a:r>
                      <a:endParaRPr b="1" sz="13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Main Focus</a:t>
                      </a:r>
                      <a:endParaRPr b="1" sz="13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Research Gap / Limitation</a:t>
                      </a:r>
                      <a:endParaRPr b="1" sz="13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How Lumen Addresses the Gap</a:t>
                      </a:r>
                      <a:endParaRPr b="1" sz="13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10567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SentimentCareBot: Retrieval-Augmented Generation Chatbot for Mental Health Support with Sentiment Analysis</a:t>
                      </a:r>
                      <a:endParaRPr b="1" sz="120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Combines RAG and sentiment analysis for mental-health conversational support.</a:t>
                      </a:r>
                      <a:endParaRPr b="1" sz="120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Focuses mainly on sentiment and context-aware responses, with scope for stronger crisis detection, longitudinal monitoring, risk integration, and escalation.</a:t>
                      </a:r>
                      <a:endParaRPr b="1" sz="120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Adds crisis-risk, emotion and stress detection, explainable risk aggregation, longitudinal tracking, safety guardrails, and structured escalation.</a:t>
                      </a:r>
                      <a:endParaRPr b="1" sz="120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567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Can Large Language Models Identify Implicit Suicidal Ideation? An Empirical Evaluation</a:t>
                      </a:r>
                      <a:endParaRPr b="1" sz="130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Evaluates whether LLMs can identify implicit suicidal ideation that is not directly expressed.</a:t>
                      </a:r>
                      <a:endParaRPr sz="130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LLMs can struggle with implicit suicidal signals and require stronger real-world and clinically grounded validation.</a:t>
                      </a:r>
                      <a:endParaRPr sz="130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Uses multiple safety signals—crisis classification, emotion/stress detection and rule-based detection—followed by risk aggregation, rather than relying on a single LLM.</a:t>
                      </a:r>
                      <a:endParaRPr sz="130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8" name="Google Shape;168;g40a0c8b7c93_4_35"/>
          <p:cNvSpPr txBox="1"/>
          <p:nvPr>
            <p:ph idx="11" type="ftr"/>
          </p:nvPr>
        </p:nvSpPr>
        <p:spPr>
          <a:xfrm>
            <a:off x="914400" y="6172200"/>
            <a:ext cx="567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SFIT- IT department                     Lumen                               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800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40a0c8b7c93_1_41"/>
          <p:cNvSpPr txBox="1"/>
          <p:nvPr>
            <p:ph type="title"/>
          </p:nvPr>
        </p:nvSpPr>
        <p:spPr>
          <a:xfrm>
            <a:off x="304800" y="132513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3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Consolidated Research Gap</a:t>
            </a:r>
            <a:endParaRPr sz="3300">
              <a:solidFill>
                <a:schemeClr val="accent1"/>
              </a:solidFill>
            </a:endParaRPr>
          </a:p>
        </p:txBody>
      </p:sp>
      <p:sp>
        <p:nvSpPr>
          <p:cNvPr id="175" name="Google Shape;175;g40a0c8b7c93_1_41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6" name="Google Shape;176;g40a0c8b7c93_1_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5800" y="6172200"/>
            <a:ext cx="533400" cy="52428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40a0c8b7c93_1_41"/>
          <p:cNvSpPr txBox="1"/>
          <p:nvPr>
            <p:ph idx="11" type="ftr"/>
          </p:nvPr>
        </p:nvSpPr>
        <p:spPr>
          <a:xfrm>
            <a:off x="914400" y="6172200"/>
            <a:ext cx="567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SFIT- IT department                     Lumen                                </a:t>
            </a:r>
            <a:endParaRPr/>
          </a:p>
        </p:txBody>
      </p:sp>
      <p:graphicFrame>
        <p:nvGraphicFramePr>
          <p:cNvPr id="178" name="Google Shape;178;g40a0c8b7c93_1_41"/>
          <p:cNvGraphicFramePr/>
          <p:nvPr/>
        </p:nvGraphicFramePr>
        <p:xfrm>
          <a:off x="304800" y="163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{8F9A06D9-9683-4C55-8417-0D1C6C4BB596}</a:tableStyleId>
              </a:tblPr>
              <a:tblGrid>
                <a:gridCol w="1709300"/>
                <a:gridCol w="1572900"/>
                <a:gridCol w="1927825"/>
                <a:gridCol w="3324375"/>
              </a:tblGrid>
              <a:tr h="14250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Consolidated Research Gap</a:t>
                      </a:r>
                      <a:endParaRPr b="1" sz="130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Existing research largely focuses on isolated detection, sentiment analysis, or single-model prediction.</a:t>
                      </a:r>
                      <a:endParaRPr sz="130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Gaps remain in real-world validation, implicit-risk detection, longitudinal monitoring, risk-level assessment, explainability, and structured escalation.</a:t>
                      </a:r>
                      <a:endParaRPr sz="130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Lumen addresses these gaps through multi-signal crisis detection, longitudinal monitoring, explainable risk aggregation, Low/Moderate/Elevated/Critical risk levels, safety guardrails, and structured escalation.</a:t>
                      </a:r>
                      <a:endParaRPr sz="130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/>
              <a:t>System description</a:t>
            </a:r>
            <a:endParaRPr/>
          </a:p>
        </p:txBody>
      </p:sp>
      <p:sp>
        <p:nvSpPr>
          <p:cNvPr id="185" name="Google Shape;185;p7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6" name="Google Shape;18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5800" y="6172200"/>
            <a:ext cx="533400" cy="524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7" title="Gemini_Generated_Image_tn64x7tn64x7tn6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600" y="1417650"/>
            <a:ext cx="8426000" cy="45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7"/>
          <p:cNvSpPr txBox="1"/>
          <p:nvPr>
            <p:ph idx="11" type="ftr"/>
          </p:nvPr>
        </p:nvSpPr>
        <p:spPr>
          <a:xfrm>
            <a:off x="914400" y="6172200"/>
            <a:ext cx="567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SFIT- IT department                     Lumen                               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en-US"/>
              <a:t>Hardware &amp; software requirements</a:t>
            </a:r>
            <a:endParaRPr/>
          </a:p>
        </p:txBody>
      </p:sp>
      <p:sp>
        <p:nvSpPr>
          <p:cNvPr id="195" name="Google Shape;195;p8"/>
          <p:cNvSpPr txBox="1"/>
          <p:nvPr>
            <p:ph idx="11" type="ftr"/>
          </p:nvPr>
        </p:nvSpPr>
        <p:spPr>
          <a:xfrm>
            <a:off x="914400" y="6172200"/>
            <a:ext cx="567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SFIT- IT department                     Lumen                                </a:t>
            </a:r>
            <a:endParaRPr/>
          </a:p>
        </p:txBody>
      </p:sp>
      <p:sp>
        <p:nvSpPr>
          <p:cNvPr id="196" name="Google Shape;196;p8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7" name="Google Shape;19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5800" y="6172200"/>
            <a:ext cx="533400" cy="52428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8"/>
          <p:cNvSpPr txBox="1"/>
          <p:nvPr/>
        </p:nvSpPr>
        <p:spPr>
          <a:xfrm>
            <a:off x="367175" y="1300200"/>
            <a:ext cx="4002900" cy="47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Requirements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Processor</a:t>
            </a: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Intel Core i5 / AMD Ryzen 5 or higher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RAM</a:t>
            </a: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Minimum 8 GB; 16 GB recommended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</a:t>
            </a: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Minimum 50 GB free SSD space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GPU</a:t>
            </a: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Optional; NVIDIA GPU with 6 GB+ VRAM recommended for local AI model inference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Internet</a:t>
            </a: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Stable internet connection for cloud-based LLM and API services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3985" lvl="0" marL="27432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8"/>
          <p:cNvSpPr txBox="1"/>
          <p:nvPr/>
        </p:nvSpPr>
        <p:spPr>
          <a:xfrm>
            <a:off x="4308600" y="1300200"/>
            <a:ext cx="4530600" cy="49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Requirements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</a:t>
            </a: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Windows 10/11 or Linux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</a:t>
            </a: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React.js / Next.js,Tailwind CSS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</a:t>
            </a: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Python, Flask / FastAPI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</a:t>
            </a: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PostgreSQL with pgvector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Voice Interaction: </a:t>
            </a: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Speech API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/ ML</a:t>
            </a: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DistilBERT / RoBERTa, Sentence Transformers, Hugging Face Transformers, PyTorch, LLM API / Ollama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</a:t>
            </a: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JWT Authentication, HTTPS/TLS Encryption, Password Hashing, Role-Based Access Control (RBAC), Secure Audit Logging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 Tools</a:t>
            </a: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Visual Studio Code, Git, GitHub, Postman, Node.js &amp; npm, Python 3.x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/>
              <a:t>System Design</a:t>
            </a:r>
            <a:endParaRPr/>
          </a:p>
        </p:txBody>
      </p:sp>
      <p:sp>
        <p:nvSpPr>
          <p:cNvPr id="206" name="Google Shape;206;p9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SFIT- IT department                     Project Title                                  </a:t>
            </a:r>
            <a:endParaRPr/>
          </a:p>
        </p:txBody>
      </p:sp>
      <p:sp>
        <p:nvSpPr>
          <p:cNvPr id="207" name="Google Shape;207;p9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8" name="Google Shape;20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5800" y="6172200"/>
            <a:ext cx="533400" cy="524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9" title="lumen_vertical_architecture_phases.png"/>
          <p:cNvPicPr preferRelativeResize="0"/>
          <p:nvPr/>
        </p:nvPicPr>
        <p:blipFill rotWithShape="1">
          <a:blip r:embed="rId4">
            <a:alphaModFix/>
          </a:blip>
          <a:srcRect b="55141" l="0" r="0" t="0"/>
          <a:stretch/>
        </p:blipFill>
        <p:spPr>
          <a:xfrm>
            <a:off x="685800" y="1428887"/>
            <a:ext cx="7772399" cy="4000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40a0c8b7c93_1_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/>
              <a:t>System Design</a:t>
            </a:r>
            <a:endParaRPr/>
          </a:p>
        </p:txBody>
      </p:sp>
      <p:sp>
        <p:nvSpPr>
          <p:cNvPr id="216" name="Google Shape;216;g40a0c8b7c93_1_3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SFIT- IT department                     Project Title                                  </a:t>
            </a:r>
            <a:endParaRPr/>
          </a:p>
        </p:txBody>
      </p:sp>
      <p:sp>
        <p:nvSpPr>
          <p:cNvPr id="217" name="Google Shape;217;g40a0c8b7c93_1_3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8" name="Google Shape;218;g40a0c8b7c93_1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5800" y="6172200"/>
            <a:ext cx="533400" cy="524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g40a0c8b7c93_1_3" title="lumen_vertical_architecture_phases.png"/>
          <p:cNvPicPr preferRelativeResize="0"/>
          <p:nvPr/>
        </p:nvPicPr>
        <p:blipFill rotWithShape="1">
          <a:blip r:embed="rId4">
            <a:alphaModFix/>
          </a:blip>
          <a:srcRect b="6676" l="1880" r="-1880" t="43541"/>
          <a:stretch/>
        </p:blipFill>
        <p:spPr>
          <a:xfrm>
            <a:off x="685800" y="1417650"/>
            <a:ext cx="7772399" cy="4439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40a0c8b7c93_1_1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Proof of chatbots - claude (1)</a:t>
            </a:r>
            <a:endParaRPr/>
          </a:p>
        </p:txBody>
      </p:sp>
      <p:sp>
        <p:nvSpPr>
          <p:cNvPr id="226" name="Google Shape;226;g40a0c8b7c93_1_13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7" name="Google Shape;227;g40a0c8b7c93_1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888" y="1417650"/>
            <a:ext cx="6524224" cy="517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40a0c8b7c93_1_29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Proof of chatbots - claude (2)</a:t>
            </a:r>
            <a:endParaRPr/>
          </a:p>
        </p:txBody>
      </p:sp>
      <p:sp>
        <p:nvSpPr>
          <p:cNvPr id="234" name="Google Shape;234;g40a0c8b7c93_1_29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5" name="Google Shape;235;g40a0c8b7c93_1_29"/>
          <p:cNvPicPr preferRelativeResize="0"/>
          <p:nvPr/>
        </p:nvPicPr>
        <p:blipFill rotWithShape="1">
          <a:blip r:embed="rId3">
            <a:alphaModFix/>
          </a:blip>
          <a:srcRect b="0" l="28171" r="0" t="0"/>
          <a:stretch/>
        </p:blipFill>
        <p:spPr>
          <a:xfrm>
            <a:off x="1502526" y="1417650"/>
            <a:ext cx="6138924" cy="511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40a0c8b7c93_3_12"/>
          <p:cNvSpPr txBox="1"/>
          <p:nvPr>
            <p:ph type="title"/>
          </p:nvPr>
        </p:nvSpPr>
        <p:spPr>
          <a:xfrm>
            <a:off x="685800" y="411475"/>
            <a:ext cx="7772400" cy="860700"/>
          </a:xfrm>
          <a:prstGeom prst="rect">
            <a:avLst/>
          </a:prstGeom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Proof of chatbots - gemini</a:t>
            </a:r>
            <a:endParaRPr/>
          </a:p>
        </p:txBody>
      </p:sp>
      <p:sp>
        <p:nvSpPr>
          <p:cNvPr id="242" name="Google Shape;242;g40a0c8b7c93_3_12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3" name="Google Shape;243;g40a0c8b7c93_3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50" y="1431975"/>
            <a:ext cx="7717050" cy="4694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40a0c8b7c93_1_2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Proof of chatbots - gemini</a:t>
            </a:r>
            <a:endParaRPr/>
          </a:p>
        </p:txBody>
      </p:sp>
      <p:sp>
        <p:nvSpPr>
          <p:cNvPr id="250" name="Google Shape;250;g40a0c8b7c93_1_21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1" name="Google Shape;251;g40a0c8b7c93_1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2266" y="1714438"/>
            <a:ext cx="7199461" cy="419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40a0c8b7c93_3_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Proof of chatbots - Chat GPT</a:t>
            </a:r>
            <a:endParaRPr/>
          </a:p>
        </p:txBody>
      </p:sp>
      <p:sp>
        <p:nvSpPr>
          <p:cNvPr id="258" name="Google Shape;258;g40a0c8b7c93_3_4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9" name="Google Shape;259;g40a0c8b7c93_3_4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g40a0c8b7c93_3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447800"/>
            <a:ext cx="7717250" cy="4920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/>
              <a:t>Timeline chart</a:t>
            </a:r>
            <a:endParaRPr/>
          </a:p>
        </p:txBody>
      </p:sp>
      <p:sp>
        <p:nvSpPr>
          <p:cNvPr id="267" name="Google Shape;267;p10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SFIT- IT department                     Project Title                                  </a:t>
            </a:r>
            <a:endParaRPr/>
          </a:p>
        </p:txBody>
      </p:sp>
      <p:sp>
        <p:nvSpPr>
          <p:cNvPr id="268" name="Google Shape;268;p10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9" name="Google Shape;269;p10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3985" lvl="0" marL="274320" rtl="0" algn="l"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  <p:pic>
        <p:nvPicPr>
          <p:cNvPr id="270" name="Google Shape;27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5800" y="6172200"/>
            <a:ext cx="533400" cy="524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400" y="1417650"/>
            <a:ext cx="7772400" cy="388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/>
              <a:t>User Interface Design</a:t>
            </a:r>
            <a:endParaRPr/>
          </a:p>
        </p:txBody>
      </p:sp>
      <p:sp>
        <p:nvSpPr>
          <p:cNvPr id="278" name="Google Shape;278;p11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SFIT- IT department                     Project Title                                  </a:t>
            </a:r>
            <a:endParaRPr/>
          </a:p>
        </p:txBody>
      </p:sp>
      <p:sp>
        <p:nvSpPr>
          <p:cNvPr id="279" name="Google Shape;279;p11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0" name="Google Shape;280;p11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3985" lvl="0" marL="274320" rtl="0" algn="l"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  <p:pic>
        <p:nvPicPr>
          <p:cNvPr id="281" name="Google Shape;28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5800" y="6172200"/>
            <a:ext cx="533400" cy="5242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/>
              <a:t>Literature Cited</a:t>
            </a:r>
            <a:endParaRPr/>
          </a:p>
        </p:txBody>
      </p:sp>
      <p:sp>
        <p:nvSpPr>
          <p:cNvPr id="288" name="Google Shape;288;p12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SFIT- IT department                     Project Title                                  </a:t>
            </a:r>
            <a:endParaRPr/>
          </a:p>
        </p:txBody>
      </p:sp>
      <p:sp>
        <p:nvSpPr>
          <p:cNvPr id="289" name="Google Shape;289;p12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0" name="Google Shape;290;p12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3985" lvl="0" marL="274320" rtl="0" algn="l"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  <p:pic>
        <p:nvPicPr>
          <p:cNvPr id="291" name="Google Shape;29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5800" y="6172200"/>
            <a:ext cx="533400" cy="5242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3"/>
          <p:cNvSpPr txBox="1"/>
          <p:nvPr>
            <p:ph type="title"/>
          </p:nvPr>
        </p:nvSpPr>
        <p:spPr>
          <a:xfrm>
            <a:off x="722313" y="9525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/>
              <a:t>Questions??</a:t>
            </a:r>
            <a:endParaRPr/>
          </a:p>
        </p:txBody>
      </p:sp>
      <p:sp>
        <p:nvSpPr>
          <p:cNvPr id="297" name="Google Shape;297;p13"/>
          <p:cNvSpPr txBox="1"/>
          <p:nvPr>
            <p:ph idx="1" type="body"/>
          </p:nvPr>
        </p:nvSpPr>
        <p:spPr>
          <a:xfrm>
            <a:off x="722313" y="2547938"/>
            <a:ext cx="7772400" cy="1338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590"/>
              <a:buNone/>
            </a:pPr>
            <a:r>
              <a:rPr b="1" lang="en-US" sz="5400">
                <a:latin typeface="Libre Franklin"/>
                <a:ea typeface="Libre Franklin"/>
                <a:cs typeface="Libre Franklin"/>
                <a:sym typeface="Libre Franklin"/>
              </a:rPr>
              <a:t>Thank You!</a:t>
            </a:r>
            <a:endParaRPr/>
          </a:p>
        </p:txBody>
      </p:sp>
      <p:sp>
        <p:nvSpPr>
          <p:cNvPr id="298" name="Google Shape;298;p13"/>
          <p:cNvSpPr txBox="1"/>
          <p:nvPr>
            <p:ph idx="11" type="ftr"/>
          </p:nvPr>
        </p:nvSpPr>
        <p:spPr>
          <a:xfrm>
            <a:off x="800100" y="6172200"/>
            <a:ext cx="400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SFIT- IT department                     Project Title                                  </a:t>
            </a:r>
            <a:endParaRPr/>
          </a:p>
        </p:txBody>
      </p:sp>
      <p:sp>
        <p:nvSpPr>
          <p:cNvPr id="299" name="Google Shape;299;p13"/>
          <p:cNvSpPr/>
          <p:nvPr>
            <p:ph idx="12" type="sldNum"/>
          </p:nvPr>
        </p:nvSpPr>
        <p:spPr>
          <a:xfrm>
            <a:off x="146304" y="6208776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quity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2013-09-17T11:11:49Z</dcterms:created>
  <dc:creator>mecomp</dc:creator>
</cp:coreProperties>
</file>