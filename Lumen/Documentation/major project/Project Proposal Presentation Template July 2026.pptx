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embeddedFontLst>
    <p:embeddedFont>
      <p:font typeface="Libre Franklin"/>
      <p:regular r:id="rId28"/>
      <p:bold r:id="rId29"/>
      <p:italic r:id="rId30"/>
      <p:boldItalic r:id="rId31"/>
    </p:embeddedFont>
    <p:embeddedFont>
      <p:font typeface="Libre Baskervill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g3XzucHkKmF1y+NCvquqYztDZr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45B387-2EB7-439E-9C6D-7559CD14D8C2}">
  <a:tblStyle styleId="{8945B387-2EB7-439E-9C6D-7559CD14D8C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ibreFranklin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ibreFranklin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ibreFranklin-boldItalic.fntdata"/><Relationship Id="rId30" Type="http://schemas.openxmlformats.org/officeDocument/2006/relationships/font" Target="fonts/LibreFranklin-italic.fntdata"/><Relationship Id="rId11" Type="http://schemas.openxmlformats.org/officeDocument/2006/relationships/slide" Target="slides/slide5.xml"/><Relationship Id="rId33" Type="http://schemas.openxmlformats.org/officeDocument/2006/relationships/font" Target="fonts/LibreBaskerville-bold.fntdata"/><Relationship Id="rId10" Type="http://schemas.openxmlformats.org/officeDocument/2006/relationships/slide" Target="slides/slide4.xml"/><Relationship Id="rId32" Type="http://schemas.openxmlformats.org/officeDocument/2006/relationships/font" Target="fonts/LibreBaskerville-regular.fntdata"/><Relationship Id="rId13" Type="http://schemas.openxmlformats.org/officeDocument/2006/relationships/slide" Target="slides/slide7.xml"/><Relationship Id="rId35" Type="http://schemas.openxmlformats.org/officeDocument/2006/relationships/font" Target="fonts/LibreBaskerville-boldItalic.fntdata"/><Relationship Id="rId12" Type="http://schemas.openxmlformats.org/officeDocument/2006/relationships/slide" Target="slides/slide6.xml"/><Relationship Id="rId34" Type="http://schemas.openxmlformats.org/officeDocument/2006/relationships/font" Target="fonts/LibreBaskerville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93c17d8d8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93c17d8d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93c17d8d8_0_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93c17d8d8_2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f93c17d8d8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93c17d8d8_2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5c6935b1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5c6935b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5c6935b1d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5c6935b1d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5c6935b1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5c6935b1d_0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5c6935b1d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5c6935b1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f5c6935b1d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40a0c79f024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40a0c79f02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40a0c79f024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93c17d8d8_0_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f93c17d8d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93c17d8d8_0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93c17d8d8_0_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f93c17d8d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93c17d8d8_0_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93c17d8d8_0_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f93c17d8d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93c17d8d8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93c17d8d8_0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93c17d8d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93c17d8d8_0_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93c17d8d8_0_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93c17d8d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f93c17d8d8_0_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93c17d8d8_0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93c17d8d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f93c17d8d8_0_1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0" name="Google Shape;20;p12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2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" name="Google Shape;25;p12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rgbClr val="B1C0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6" name="Google Shape;26;p12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7" name="Google Shape;27;p12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6" name="Google Shape;36;p1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7" name="Google Shape;37;p14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/>
          <p:nvPr/>
        </p:nvSpPr>
        <p:spPr>
          <a:xfrm flipH="1" rot="10800000">
            <a:off x="69412" y="2376830"/>
            <a:ext cx="901351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2" name="Google Shape;42;p14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rgbClr val="B1C0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" name="Google Shape;43;p14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4" name="Google Shape;44;p14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6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2" name="Google Shape;72;p19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3" name="Google Shape;73;p19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9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70" lvl="1" marL="914400" algn="l"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20" lvl="3" marL="1828800" algn="l"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20"/>
          <p:cNvSpPr/>
          <p:nvPr/>
        </p:nvSpPr>
        <p:spPr>
          <a:xfrm flipH="1" rot="10800000">
            <a:off x="68307" y="4683555"/>
            <a:ext cx="900684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6" name="Google Shape;86;p20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rgbClr val="B1C0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7" name="Google Shape;87;p20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8" name="Google Shape;88;p20"/>
          <p:cNvSpPr/>
          <p:nvPr>
            <p:ph idx="2" type="pic"/>
          </p:nvPr>
        </p:nvSpPr>
        <p:spPr>
          <a:xfrm>
            <a:off x="68308" y="66675"/>
            <a:ext cx="9001873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type="title"/>
          </p:nvPr>
        </p:nvSpPr>
        <p:spPr>
          <a:xfrm rot="5400000">
            <a:off x="4709478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 rot="5400000">
            <a:off x="7699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" name="Google Shape;11;p11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" name="Google Shape;12;p1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935" lvl="0" marL="457200" marR="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6" name="Google Shape;16;p1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838200" y="3200400"/>
            <a:ext cx="77724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en-US"/>
              <a:t>Yashvie Mahey		51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en-US"/>
              <a:t>Shravani Lad		52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en-US"/>
              <a:t>Harshit Behl 		53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2308"/>
              <a:buNone/>
            </a:pPr>
            <a:r>
              <a:rPr lang="en-US"/>
              <a:t>Rahil Kirtikar		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2308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en-US"/>
              <a:t>Date of presentation: 20/07/26</a:t>
            </a:r>
            <a:endParaRPr/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en-US"/>
              <a:t>Under the guidance of: Name of guide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US"/>
              <a:t>St. Francis Institute of Technology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i="1" lang="en-US"/>
              <a:t>Department of Information Technology</a:t>
            </a:r>
            <a:endParaRPr/>
          </a:p>
        </p:txBody>
      </p:sp>
      <p:sp>
        <p:nvSpPr>
          <p:cNvPr id="107" name="Google Shape;107;p1"/>
          <p:cNvSpPr txBox="1"/>
          <p:nvPr>
            <p:ph type="ctrTitle"/>
          </p:nvPr>
        </p:nvSpPr>
        <p:spPr>
          <a:xfrm>
            <a:off x="353250" y="1694700"/>
            <a:ext cx="84375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Lumen: A Safety-Guarded Conversational AI Companion with Real-Time Crisis Detection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6019800"/>
            <a:ext cx="522288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type="title"/>
          </p:nvPr>
        </p:nvSpPr>
        <p:spPr>
          <a:xfrm>
            <a:off x="914400" y="274638"/>
            <a:ext cx="77724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Content</a:t>
            </a:r>
            <a:endParaRPr/>
          </a:p>
        </p:txBody>
      </p:sp>
      <p:sp>
        <p:nvSpPr>
          <p:cNvPr id="115" name="Google Shape;115;p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 </a:t>
            </a:r>
            <a:endParaRPr/>
          </a:p>
        </p:txBody>
      </p:sp>
      <p:sp>
        <p:nvSpPr>
          <p:cNvPr id="116" name="Google Shape;116;p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2"/>
          <p:cNvSpPr txBox="1"/>
          <p:nvPr>
            <p:ph idx="1" type="body"/>
          </p:nvPr>
        </p:nvSpPr>
        <p:spPr>
          <a:xfrm>
            <a:off x="914400" y="990600"/>
            <a:ext cx="7772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Introduction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Review of literature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Problem definition &amp; Proposed solution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Scope of project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Architecture or block diagram (broader topic/algorithm</a:t>
            </a:r>
            <a:r>
              <a:rPr i="1" lang="en-US"/>
              <a:t>)</a:t>
            </a:r>
            <a:endParaRPr/>
          </a:p>
          <a:p>
            <a:pPr indent="-228600" lvl="1" marL="548640" rtl="0" algn="l">
              <a:spcBef>
                <a:spcPts val="370"/>
              </a:spcBef>
              <a:spcAft>
                <a:spcPts val="0"/>
              </a:spcAft>
              <a:buSzPts val="2040"/>
              <a:buChar char="⚫"/>
            </a:pPr>
            <a:r>
              <a:rPr i="1" lang="en-US"/>
              <a:t>Explanation of individual blocks (if exists) or algorithm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Hardware/ software requirement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Literature Cited (book, web &amp; paper References)</a:t>
            </a:r>
            <a:endParaRPr/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type="title"/>
          </p:nvPr>
        </p:nvSpPr>
        <p:spPr>
          <a:xfrm>
            <a:off x="533400" y="195947"/>
            <a:ext cx="77724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Introduction </a:t>
            </a:r>
            <a:endParaRPr/>
          </a:p>
        </p:txBody>
      </p:sp>
      <p:sp>
        <p:nvSpPr>
          <p:cNvPr id="125" name="Google Shape;125;p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</a:t>
            </a:r>
            <a:endParaRPr/>
          </a:p>
        </p:txBody>
      </p:sp>
      <p:sp>
        <p:nvSpPr>
          <p:cNvPr id="126" name="Google Shape;126;p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3"/>
          <p:cNvSpPr txBox="1"/>
          <p:nvPr>
            <p:ph idx="1" type="body"/>
          </p:nvPr>
        </p:nvSpPr>
        <p:spPr>
          <a:xfrm>
            <a:off x="146300" y="970300"/>
            <a:ext cx="8957400" cy="52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37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3"/>
              <a:buFont typeface="Arial"/>
              <a:buChar char="●"/>
            </a:pPr>
            <a:r>
              <a:rPr lang="en-US" sz="1603">
                <a:latin typeface="Times New Roman"/>
                <a:ea typeface="Times New Roman"/>
                <a:cs typeface="Times New Roman"/>
                <a:sym typeface="Times New Roman"/>
              </a:rPr>
              <a:t>Mental health challenges are becoming increasingly common worldwide, while social stigma, lack of awareness, high treatment costs and limited accessibility continue to prevent many individuals from seeking timely professional support.</a:t>
            </a:r>
            <a:endParaRPr sz="160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37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3"/>
              <a:buFont typeface="Arial"/>
              <a:buChar char="●"/>
            </a:pPr>
            <a:r>
              <a:rPr lang="en-US" sz="1603">
                <a:latin typeface="Times New Roman"/>
                <a:ea typeface="Times New Roman"/>
                <a:cs typeface="Times New Roman"/>
                <a:sym typeface="Times New Roman"/>
              </a:rPr>
              <a:t>The growing use of AI-powered conversational systems offers an opportunity to provide accessible and continuous emotional support; however, general-purpose AI chatbots may miss crisis-related signals, overlook gradual negative mood trends and generate diagnosis-like or potentially inappropriate responses.</a:t>
            </a:r>
            <a:endParaRPr sz="160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37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3"/>
              <a:buFont typeface="Arial"/>
              <a:buChar char="●"/>
            </a:pPr>
            <a:r>
              <a:rPr lang="en-US" sz="1603">
                <a:latin typeface="Times New Roman"/>
                <a:ea typeface="Times New Roman"/>
                <a:cs typeface="Times New Roman"/>
                <a:sym typeface="Times New Roman"/>
              </a:rPr>
              <a:t>Existing conversational systems often lack long-term contextual understanding, explainable risk detection and structured escalation mechanisms, making it difficult to safely identify users who may require additional or professional support.</a:t>
            </a:r>
            <a:endParaRPr sz="160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37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3"/>
              <a:buFont typeface="Arial"/>
              <a:buChar char="●"/>
            </a:pPr>
            <a:r>
              <a:rPr lang="en-US" sz="1603">
                <a:latin typeface="Times New Roman"/>
                <a:ea typeface="Times New Roman"/>
                <a:cs typeface="Times New Roman"/>
                <a:sym typeface="Times New Roman"/>
              </a:rPr>
              <a:t>Lumen: a Safety-Guarded Conversational AI Architecture that integrates real-time risk classification, retrieval-augmented contextual memory, anti-diagnosis guardrails, longitudinal mood tracking, explainable escalation and human-reviewed continuous improvement to enable supportive, context-aware and non-diagnostic AI interactions</a:t>
            </a:r>
            <a:endParaRPr sz="160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985" lvl="0" marL="27432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47"/>
              <a:buNone/>
            </a:pPr>
            <a:r>
              <a:t/>
            </a:r>
            <a:endParaRPr b="1" sz="87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93c17d8d8_0_1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Review of literature</a:t>
            </a:r>
            <a:endParaRPr/>
          </a:p>
        </p:txBody>
      </p:sp>
      <p:sp>
        <p:nvSpPr>
          <p:cNvPr id="135" name="Google Shape;135;g3f93c17d8d8_0_1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 </a:t>
            </a:r>
            <a:endParaRPr/>
          </a:p>
        </p:txBody>
      </p:sp>
      <p:sp>
        <p:nvSpPr>
          <p:cNvPr id="136" name="Google Shape;136;g3f93c17d8d8_0_1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g3f93c17d8d8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g3f93c17d8d8_0_16"/>
          <p:cNvGraphicFramePr/>
          <p:nvPr/>
        </p:nvGraphicFramePr>
        <p:xfrm>
          <a:off x="270625" y="130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{8945B387-2EB7-439E-9C6D-7559CD14D8C2}</a:tableStyleId>
              </a:tblPr>
              <a:tblGrid>
                <a:gridCol w="2254925"/>
                <a:gridCol w="2365250"/>
                <a:gridCol w="2015225"/>
                <a:gridCol w="1967325"/>
              </a:tblGrid>
              <a:tr h="620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 &amp; Title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 &amp; Conclusion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Gaps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 / Challenges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148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MacNeill et al. (2024)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Effectiveness of a Mental Health Chatbot for People with Chronic Diseases: Randomized Controlled Trial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Demonstrated that chatbot-assisted interventions improved mental health support and accessibility for individuals with chronic diseases.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Does not include suicide-risk detection, emergency escalation, or advanced AI safety mechanisms.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to chronic disease patients; evaluates outcomes rather than chatbot safety and explainability.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Engineering, Technology &amp; Applied Science Research (2026)</a:t>
                      </a: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AI-Driven Hybrid Approach for Detecting Mental Health Indicators in Multilingual Indian Social Media</a:t>
                      </a: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Developed a multilingual NLP framework for detecting mental health indicators from code-mixed Indian social media text with improved detection performance.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designed for conversational AI, journaling, or interactive mental health assistance.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to social media analysis; lacks chatbot interaction, explainability, and crisis-management features.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Review of literature</a:t>
            </a:r>
            <a:endParaRPr/>
          </a:p>
        </p:txBody>
      </p:sp>
      <p:sp>
        <p:nvSpPr>
          <p:cNvPr id="145" name="Google Shape;145;p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</a:t>
            </a:r>
            <a:endParaRPr/>
          </a:p>
        </p:txBody>
      </p:sp>
      <p:sp>
        <p:nvSpPr>
          <p:cNvPr id="146" name="Google Shape;146;p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7" name="Google Shape;1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" name="Google Shape;148;p4"/>
          <p:cNvGraphicFramePr/>
          <p:nvPr/>
        </p:nvGraphicFramePr>
        <p:xfrm>
          <a:off x="180975" y="128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{8945B387-2EB7-439E-9C6D-7559CD14D8C2}</a:tableStyleId>
              </a:tblPr>
              <a:tblGrid>
                <a:gridCol w="2181225"/>
                <a:gridCol w="2796125"/>
                <a:gridCol w="1985425"/>
                <a:gridCol w="18192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 &amp; Title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 &amp; Conclusion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Gaps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 / Challenges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Moore et al. (2025)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Expressing Stigma and Inappropriate Responses Prevents LLMs from Safely Replacing Mental Health Providers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Evaluated general-purpose LLMs for mental health support and found that they may produce stigmatizing and unsafe responses during crisis situations. Concluded that LLMs should support, not replace, clinicians.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dedicated safety framework, crisis escalation, or explainable AI for mental health chatbots.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to general-purpose LLMs; does not evaluate purpose-built safety-focused chatbot systems.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Pichowicz et al. (2025)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of Mental Health Chatbot Agents in Detecting and Managing Suicidal Ideation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Assessed chatbot agents for suicidal ideation detection and found inconsistent clinical responses across systems.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Does not address long-term monitoring or personalized risk assessment.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Evaluates isolated conversations only; lacks real-world deployment and explainability.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Weber et al. (2026)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Suicide- and Crisis-Risk Detection Using Large Language Models in Mental-Health Chatbots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an LLM-based framework for detecting suicide and crisis risk using clinician-annotated conversations.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multilingual support, journaling integration, or user-facing explanations of risk predictions.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 dataset and evaluation limited to prompt-based LLM models.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93c17d8d8_2_6"/>
          <p:cNvSpPr txBox="1"/>
          <p:nvPr>
            <p:ph type="title"/>
          </p:nvPr>
        </p:nvSpPr>
        <p:spPr>
          <a:xfrm>
            <a:off x="685800" y="30478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en-US"/>
              <a:t>Problem definition &amp; Proposed solution </a:t>
            </a:r>
            <a:endParaRPr/>
          </a:p>
        </p:txBody>
      </p:sp>
      <p:sp>
        <p:nvSpPr>
          <p:cNvPr id="155" name="Google Shape;155;g3f93c17d8d8_2_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Project Title                                  </a:t>
            </a:r>
            <a:endParaRPr/>
          </a:p>
        </p:txBody>
      </p:sp>
      <p:sp>
        <p:nvSpPr>
          <p:cNvPr id="156" name="Google Shape;156;g3f93c17d8d8_2_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g3f93c17d8d8_2_6"/>
          <p:cNvSpPr txBox="1"/>
          <p:nvPr>
            <p:ph idx="1" type="body"/>
          </p:nvPr>
        </p:nvSpPr>
        <p:spPr>
          <a:xfrm>
            <a:off x="242600" y="1447800"/>
            <a:ext cx="8817300" cy="46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8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1F497D"/>
                </a:solidFill>
                <a:latin typeface="Georgia"/>
                <a:ea typeface="Georgia"/>
                <a:cs typeface="Georgia"/>
                <a:sym typeface="Georgia"/>
              </a:rPr>
              <a:t>Problem Definition</a:t>
            </a:r>
            <a:endParaRPr b="1" sz="2000">
              <a:solidFill>
                <a:srgbClr val="1F497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Mental health support remains difficult to access due to social stigma, lack of awareness, high treatment costs and limited accessibility, leading many individuals to rely on general-purpose AI chatbots that are not specifically designed for safe mental-health support.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Existing conversational AI systems may miss immediate crisis signals and gradual negative mood trends, generate diagnosis-like responses, and lack long-term contextual memory, explainable risk detection and reliable escalation mechanisms for users who may require professional support.</a:t>
            </a:r>
            <a:endParaRPr sz="16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1F497D"/>
                </a:solidFill>
                <a:latin typeface="Georgia"/>
                <a:ea typeface="Georgia"/>
                <a:cs typeface="Georgia"/>
                <a:sym typeface="Georgia"/>
              </a:rPr>
              <a:t>Proposed Solution</a:t>
            </a:r>
            <a:endParaRPr b="1" sz="2000">
              <a:solidFill>
                <a:srgbClr val="1F497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marR="127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Lumen: a Safety-Guarded Conversational AI Architecture that combines real-time crisis-risk classification, Retrieval-Augmented Context Memory and longitudinal mood tracking to provide supportive, context-aware and strictly non-diagnostic AI interactions.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12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Lumen integrates anti-diagnosis guardrails, explainable risk aggregation and structured escalation to verified resources such as Tele-MANAS, supported by a human-reviewed continuous learning loop that improves risk lexicons, detection thresholds and safety guardrails over time.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g3f93c17d8d8_2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 txBox="1"/>
          <p:nvPr>
            <p:ph type="title"/>
          </p:nvPr>
        </p:nvSpPr>
        <p:spPr>
          <a:xfrm>
            <a:off x="914400" y="391897"/>
            <a:ext cx="77724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Scope of project</a:t>
            </a:r>
            <a:endParaRPr/>
          </a:p>
        </p:txBody>
      </p:sp>
      <p:sp>
        <p:nvSpPr>
          <p:cNvPr id="165" name="Google Shape;165;p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Project Title                                  </a:t>
            </a:r>
            <a:endParaRPr/>
          </a:p>
        </p:txBody>
      </p:sp>
      <p:sp>
        <p:nvSpPr>
          <p:cNvPr id="166" name="Google Shape;166;p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6"/>
          <p:cNvSpPr txBox="1"/>
          <p:nvPr>
            <p:ph idx="1" type="body"/>
          </p:nvPr>
        </p:nvSpPr>
        <p:spPr>
          <a:xfrm>
            <a:off x="458750" y="1298525"/>
            <a:ext cx="8228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Develop a safety-guarded conversational AI system for supportive mental-health interactions by integrating real-time crisis-risk classification, Retrieval-Augmented Context Memory, multilingual risk detection, and longitudinal mood tracking across user conversations and journal entries.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Implement anti-diagnosis guardrails, explainable risk aggregation, structured escalation to verified resources such as Tele-MANAS, and secure audit logging with human-reviewed continuous improvement to enhance risk detection, safety guardrails, and transparency.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The system is designed to provide supportive and preventive assistance only and remains strictly non-diagnostic; it is not intended to replace psychiatrists, psychologists, therapists, emergency services, or other professional mental-health care.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985" lvl="0" marL="27432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pic>
        <p:nvPicPr>
          <p:cNvPr id="168" name="Google Shape;1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5c6935b1d_0_0"/>
          <p:cNvSpPr txBox="1"/>
          <p:nvPr>
            <p:ph type="title"/>
          </p:nvPr>
        </p:nvSpPr>
        <p:spPr>
          <a:xfrm>
            <a:off x="859000" y="223225"/>
            <a:ext cx="7772400" cy="8607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 -  gemini</a:t>
            </a:r>
            <a:endParaRPr/>
          </a:p>
        </p:txBody>
      </p:sp>
      <p:sp>
        <p:nvSpPr>
          <p:cNvPr id="175" name="Google Shape;175;g3f5c6935b1d_0_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6" name="Google Shape;176;g3f5c6935b1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75" y="1083925"/>
            <a:ext cx="8426951" cy="512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5c6935b1d_0_1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3" name="Google Shape;183;g3f5c6935b1d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88" y="1307025"/>
            <a:ext cx="8054217" cy="490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5c6935b1d_0_18"/>
          <p:cNvSpPr txBox="1"/>
          <p:nvPr/>
        </p:nvSpPr>
        <p:spPr>
          <a:xfrm>
            <a:off x="818675" y="424950"/>
            <a:ext cx="76248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Proof -  gemini</a:t>
            </a:r>
            <a:endParaRPr sz="2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5c6935b1d_0_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 - Claude</a:t>
            </a:r>
            <a:endParaRPr/>
          </a:p>
        </p:txBody>
      </p:sp>
      <p:sp>
        <p:nvSpPr>
          <p:cNvPr id="191" name="Google Shape;191;g3f5c6935b1d_0_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2" name="Google Shape;192;g3f5c6935b1d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1417650"/>
            <a:ext cx="8077201" cy="483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0a0c79f024_1_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40a0c79f024_1_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g40a0c79f024_1_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207" name="Google Shape;207;p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Project Title                                  </a:t>
            </a:r>
            <a:endParaRPr/>
          </a:p>
        </p:txBody>
      </p:sp>
      <p:sp>
        <p:nvSpPr>
          <p:cNvPr id="208" name="Google Shape;208;p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9" name="Google Shape;2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7" title="lumen_six_phase_architecture.png"/>
          <p:cNvPicPr preferRelativeResize="0"/>
          <p:nvPr/>
        </p:nvPicPr>
        <p:blipFill rotWithShape="1">
          <a:blip r:embed="rId4">
            <a:alphaModFix/>
          </a:blip>
          <a:srcRect b="3750" l="0" r="0" t="3192"/>
          <a:stretch/>
        </p:blipFill>
        <p:spPr>
          <a:xfrm>
            <a:off x="1461400" y="1271800"/>
            <a:ext cx="6221199" cy="4938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93c17d8d8_0_5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  </a:t>
            </a:r>
            <a:endParaRPr/>
          </a:p>
        </p:txBody>
      </p:sp>
      <p:sp>
        <p:nvSpPr>
          <p:cNvPr id="217" name="Google Shape;217;g3f93c17d8d8_0_5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8" name="Google Shape;218;g3f93c17d8d8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f93c17d8d8_0_50" title="phase1_input_risk_classifier_titl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350" y="455275"/>
            <a:ext cx="7673324" cy="54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93c17d8d8_0_6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  </a:t>
            </a:r>
            <a:endParaRPr/>
          </a:p>
        </p:txBody>
      </p:sp>
      <p:sp>
        <p:nvSpPr>
          <p:cNvPr id="226" name="Google Shape;226;g3f93c17d8d8_0_6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7" name="Google Shape;227;g3f93c17d8d8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f93c17d8d8_0_63" title="phase2_context_memory_titl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475" y="342900"/>
            <a:ext cx="7979044" cy="5867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93c17d8d8_0_7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  </a:t>
            </a:r>
            <a:endParaRPr/>
          </a:p>
        </p:txBody>
      </p:sp>
      <p:sp>
        <p:nvSpPr>
          <p:cNvPr id="235" name="Google Shape;235;g3f93c17d8d8_0_7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6" name="Google Shape;236;g3f93c17d8d8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f93c17d8d8_0_72" title="phase3_mood_trend_tracking_titled.png"/>
          <p:cNvPicPr preferRelativeResize="0"/>
          <p:nvPr/>
        </p:nvPicPr>
        <p:blipFill rotWithShape="1">
          <a:blip r:embed="rId4">
            <a:alphaModFix/>
          </a:blip>
          <a:srcRect b="6498" l="0" r="0" t="0"/>
          <a:stretch/>
        </p:blipFill>
        <p:spPr>
          <a:xfrm>
            <a:off x="735338" y="493300"/>
            <a:ext cx="7673324" cy="548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93c17d8d8_0_8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4" name="Google Shape;244;g3f93c17d8d8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154" y="280300"/>
            <a:ext cx="8235694" cy="629741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f93c17d8d8_0_8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 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93c17d8d8_0_9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g3f93c17d8d8_0_9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  </a:t>
            </a:r>
            <a:endParaRPr/>
          </a:p>
        </p:txBody>
      </p:sp>
      <p:pic>
        <p:nvPicPr>
          <p:cNvPr id="253" name="Google Shape;253;g3f93c17d8d8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25" y="406300"/>
            <a:ext cx="8676127" cy="58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93c17d8d8_0_10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g3f93c17d8d8_0_10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  </a:t>
            </a:r>
            <a:endParaRPr/>
          </a:p>
        </p:txBody>
      </p:sp>
      <p:pic>
        <p:nvPicPr>
          <p:cNvPr id="261" name="Google Shape;261;g3f93c17d8d8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475" y="495300"/>
            <a:ext cx="7979044" cy="5867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 txBox="1"/>
          <p:nvPr>
            <p:ph type="title"/>
          </p:nvPr>
        </p:nvSpPr>
        <p:spPr>
          <a:xfrm>
            <a:off x="438600" y="317250"/>
            <a:ext cx="82668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en-US"/>
              <a:t>Hardware &amp; software requirements</a:t>
            </a:r>
            <a:endParaRPr/>
          </a:p>
        </p:txBody>
      </p:sp>
      <p:sp>
        <p:nvSpPr>
          <p:cNvPr id="268" name="Google Shape;268;p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Project Title                                  </a:t>
            </a:r>
            <a:endParaRPr/>
          </a:p>
        </p:txBody>
      </p:sp>
      <p:sp>
        <p:nvSpPr>
          <p:cNvPr id="269" name="Google Shape;269;p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8"/>
          <p:cNvSpPr txBox="1"/>
          <p:nvPr>
            <p:ph idx="1" type="body"/>
          </p:nvPr>
        </p:nvSpPr>
        <p:spPr>
          <a:xfrm>
            <a:off x="419875" y="1192000"/>
            <a:ext cx="4002900" cy="47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Hardware Requirements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Processor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: Intel Core i5 / AMD Ryzen 5 or higher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RAM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: Minimum 8 GB; 16 GB recommended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: Minimum 50 GB free SSD space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GPU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: Optional; NVIDIA GPU with 6 GB+ VRAM recommended for local AI model inference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Internet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: Stable internet connection for cloud-based LLM and API services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985" lvl="0" marL="274320" rtl="0" algn="l">
              <a:spcBef>
                <a:spcPts val="120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"/>
          <p:cNvSpPr txBox="1"/>
          <p:nvPr>
            <p:ph idx="1" type="body"/>
          </p:nvPr>
        </p:nvSpPr>
        <p:spPr>
          <a:xfrm>
            <a:off x="4361300" y="1192000"/>
            <a:ext cx="4530600" cy="49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Software Requirements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Operating System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: Windows 10/11 or Linux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: React.js / Next.js,Tailwind CSS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: Python, Flask / FastAPI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: PostgreSQL with pgvector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Voice Interaction: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Web Speech API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AI / ML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: DistilBERT / RoBERTa, Sentence Transformers, Hugging Face Transformers, PyTorch, LLM API / Ollama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Security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: JWT Authentication, HTTPS/TLS Encryption, Password Hashing, Role-Based Access Control (RBAC), Secure Audit Logging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Development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Tools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: Visual Studio Code, Git, GitHub, Postman, Node.js &amp; npm, Python 3.x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Literature Cited</a:t>
            </a:r>
            <a:endParaRPr/>
          </a:p>
        </p:txBody>
      </p:sp>
      <p:sp>
        <p:nvSpPr>
          <p:cNvPr id="279" name="Google Shape;279;p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Project Title                                  </a:t>
            </a:r>
            <a:endParaRPr/>
          </a:p>
        </p:txBody>
      </p:sp>
      <p:sp>
        <p:nvSpPr>
          <p:cNvPr id="280" name="Google Shape;280;p9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J. Moore, D. Grabb, W. Agnew, K. Klyman, S. Chancellor, D. C. Ong, and N. Haber, "Expressing Stigma and Inappropriate Responses Prevents LLMs from Safely Replacing Mental Health Providers," </a:t>
            </a:r>
            <a:r>
              <a:rPr i="1" lang="en-US" sz="1500">
                <a:latin typeface="Times New Roman"/>
                <a:ea typeface="Times New Roman"/>
                <a:cs typeface="Times New Roman"/>
                <a:sym typeface="Times New Roman"/>
              </a:rPr>
              <a:t>Proceedings of the ACM Conference on Fairness, Accountability, and Transparency (FAccT)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, pp. 599–627, 2025.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W. Pichowicz, M. Kotas, and P. Piotrowski, "Performance of Mental Health Chatbot Agents in Detecting and Managing Suicidal Ideation," </a:t>
            </a:r>
            <a:r>
              <a:rPr i="1" lang="en-US" sz="1500">
                <a:latin typeface="Times New Roman"/>
                <a:ea typeface="Times New Roman"/>
                <a:cs typeface="Times New Roman"/>
                <a:sym typeface="Times New Roman"/>
              </a:rPr>
              <a:t>Scientific Reports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, vol. 15, no. 1, Art. no. 31652, 2025.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S. Weber, D. Klebe, L. Wolf, </a:t>
            </a:r>
            <a:r>
              <a:rPr i="1" lang="en-US" sz="1500"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., "Suicide- and Crisis-Risk Detection Using Large Language Models in Mental-Health Chatbots," </a:t>
            </a:r>
            <a:r>
              <a:rPr i="1" lang="en-US" sz="1500">
                <a:latin typeface="Times New Roman"/>
                <a:ea typeface="Times New Roman"/>
                <a:cs typeface="Times New Roman"/>
                <a:sym typeface="Times New Roman"/>
              </a:rPr>
              <a:t>medRxiv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, preprint, 2026.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[4]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A. L. MacNeill, S. Doucet, and A. Luke, "Effectiveness of a Mental Health Chatbot for People with Chronic Diseases: Randomized Controlled Trial," </a:t>
            </a:r>
            <a:r>
              <a:rPr i="1" lang="en-US" sz="1500">
                <a:latin typeface="Times New Roman"/>
                <a:ea typeface="Times New Roman"/>
                <a:cs typeface="Times New Roman"/>
                <a:sym typeface="Times New Roman"/>
              </a:rPr>
              <a:t>JMIR Formative Research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, vol. 8, Art. no. e50025, 2024.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[5]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P. Kaywan, K. Ahmed, A. Ibaida, Y. Miao, and B. Gu, "Early Detection of Depression Using a Conversational AI Bot: A Non-Clinical Trial," </a:t>
            </a:r>
            <a:r>
              <a:rPr i="1" lang="en-US" sz="1500">
                <a:latin typeface="Times New Roman"/>
                <a:ea typeface="Times New Roman"/>
                <a:cs typeface="Times New Roman"/>
                <a:sym typeface="Times New Roman"/>
              </a:rPr>
              <a:t>PLOS ONE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, vol. 18, no. 2, Art. no. e0279743, 2023.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[6]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1500">
                <a:latin typeface="Times New Roman"/>
                <a:ea typeface="Times New Roman"/>
                <a:cs typeface="Times New Roman"/>
                <a:sym typeface="Times New Roman"/>
              </a:rPr>
              <a:t>An AI-Driven Hybrid Approach for Detecting Mental Health Indicators in Multilingual Indian Social Media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1500">
                <a:latin typeface="Times New Roman"/>
                <a:ea typeface="Times New Roman"/>
                <a:cs typeface="Times New Roman"/>
                <a:sym typeface="Times New Roman"/>
              </a:rPr>
              <a:t>Engineering, Technology &amp; Applied Science Research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, 2026.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985" lvl="0" marL="27432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4"/>
              <a:buNone/>
            </a:pPr>
            <a:r>
              <a:t/>
            </a:r>
            <a:endParaRPr sz="2405"/>
          </a:p>
        </p:txBody>
      </p:sp>
      <p:pic>
        <p:nvPicPr>
          <p:cNvPr id="282" name="Google Shape;2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Questions??</a:t>
            </a:r>
            <a:endParaRPr/>
          </a:p>
        </p:txBody>
      </p:sp>
      <p:sp>
        <p:nvSpPr>
          <p:cNvPr id="288" name="Google Shape;288;p10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590"/>
              <a:buNone/>
            </a:pPr>
            <a:r>
              <a:rPr b="1" lang="en-US" sz="5400">
                <a:latin typeface="Libre Franklin"/>
                <a:ea typeface="Libre Franklin"/>
                <a:cs typeface="Libre Franklin"/>
                <a:sym typeface="Libre Franklin"/>
              </a:rPr>
              <a:t>Thank You!</a:t>
            </a:r>
            <a:endParaRPr/>
          </a:p>
        </p:txBody>
      </p:sp>
      <p:sp>
        <p:nvSpPr>
          <p:cNvPr id="289" name="Google Shape;289;p10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Project Title                                  </a:t>
            </a:r>
            <a:endParaRPr/>
          </a:p>
        </p:txBody>
      </p:sp>
      <p:sp>
        <p:nvSpPr>
          <p:cNvPr id="290" name="Google Shape;290;p10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quity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2013-09-17T11:11:49Z</dcterms:created>
  <dc:creator>mecomp</dc:creator>
</cp:coreProperties>
</file>